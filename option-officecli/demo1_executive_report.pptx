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ed0c2ee809a4b49" /><Relationship Type="http://schemas.openxmlformats.org/package/2006/relationships/metadata/core-properties" Target="/docProps/core.xml" Id="R72db8a673ca34d35" /><Relationship Type="http://schemas.openxmlformats.org/officeDocument/2006/relationships/extended-properties" Target="/docProps/app.xml" Id="R4e993e0cebb5485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6af242a58b64812"/>
    <p:sldId id="257" r:id="R9268a3a7f47c4e8b"/>
    <p:sldId id="258" r:id="R15ef76ab6e5c4baa"/>
    <p:sldId id="259" r:id="Rb72617f999d341ac"/>
    <p:sldId id="260" r:id="R8791a98a4d2e473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6af242a58b64812" /><Relationship Type="http://schemas.openxmlformats.org/officeDocument/2006/relationships/slide" Target="/ppt/slides/slide3.xml" Id="R9268a3a7f47c4e8b" /><Relationship Type="http://schemas.openxmlformats.org/officeDocument/2006/relationships/slide" Target="/ppt/slides/slide4.xml" Id="R15ef76ab6e5c4baa" /><Relationship Type="http://schemas.openxmlformats.org/officeDocument/2006/relationships/slide" Target="/ppt/slides/slide5.xml" Id="Rb72617f999d341ac" /><Relationship Type="http://schemas.openxmlformats.org/officeDocument/2006/relationships/slide" Target="/ppt/slides/slide6.xml" Id="R8791a98a4d2e47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the board. Today we review FY26 strategic progress — revenue, market position, and our three priorities for H2.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 KPIs tell the story: revenue beat by 18%, NRR at 118% (best in peer group), and we took #1 market position in EMEA. Each metric exceeds FY26 plan targets.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 grew across all regions. Americas is our largest at 4.6M Q4. EMEA growth rate is fastest at 44% YoY. APAC has the strongest pipeline going into FY27.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 priorities for H2. Platform: self-serve and SSO to win enterprise. EMEA: boots on ground in Berlin. AI: our competitive moat — anomaly detection and NLQ ship this year.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Thank the board for their time. Open the floor for questions. Key decision items for today: H2 budget approval and EMEA expansion sign-off.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6fbb2f91f44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4a8f3a0254f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d87b91e864b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4c1cce13f4a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edeb4608c449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030c6d4ae6043f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6671afeee4bd4" /><Relationship Type="http://schemas.openxmlformats.org/officeDocument/2006/relationships/notesSlide" Target="/ppt/notesSlides/notesSlide1.xml" Id="Rfd7e4b178a3644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e643fcbd547dd" /><Relationship Type="http://schemas.openxmlformats.org/officeDocument/2006/relationships/notesSlide" Target="/ppt/notesSlides/notesSlide2.xml" Id="Rb26a15909d7541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64069d2c5418e" /><Relationship Type="http://schemas.openxmlformats.org/officeDocument/2006/relationships/chart" Target="/ppt/slides/charts/chart1.xml" Id="R77998e8e57c14af8" /><Relationship Type="http://schemas.openxmlformats.org/officeDocument/2006/relationships/notesSlide" Target="/ppt/notesSlides/notesSlide3.xml" Id="Re19728696d994e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3c8847c804344" /><Relationship Type="http://schemas.openxmlformats.org/officeDocument/2006/relationships/notesSlide" Target="/ppt/notesSlides/notesSlide4.xml" Id="R506bd54d468644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7c4d8041547b6" /><Relationship Type="http://schemas.openxmlformats.org/officeDocument/2006/relationships/notesSlide" Target="/ppt/notesSlides/notesSlide5.xml" Id="R0477a8168d644a3d" /></Relationships>
</file>

<file path=ppt/slides/charts/chart1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>
                <a:solidFill>
                  <a:srgbClr val="1E2761"/>
                </a:solidFill>
              </a:rPr>
              <a:t>Quarterly Revenue by Region ()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EMEA</c:v>
          </c:tx>
          <c:spPr>
            <a:solidFill xmlns:a="http://schemas.openxmlformats.org/drawingml/2006/main">
              <a:srgbClr val="1E2761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8.2</c:v>
              </c:pt>
              <c:pt idx="1">
                <c:v>9.1</c:v>
              </c:pt>
              <c:pt idx="2">
                <c:v>10.4</c:v>
              </c:pt>
              <c:pt idx="3">
                <c:v>11.8</c:v>
              </c:pt>
            </c:numLit>
          </c:val>
        </c:ser>
        <c:ser>
          <c:idx val="1"/>
          <c:order val="1"/>
          <c:tx>
            <c:v>APAC</c:v>
          </c:tx>
          <c:spPr>
            <a:solidFill xmlns:a="http://schemas.openxmlformats.org/drawingml/2006/main">
              <a:srgbClr val="3A4BA0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6.5</c:v>
              </c:pt>
              <c:pt idx="1">
                <c:v>7.3</c:v>
              </c:pt>
              <c:pt idx="2">
                <c:v>8.1</c:v>
              </c:pt>
              <c:pt idx="3">
                <c:v>9.2</c:v>
              </c:pt>
            </c:numLit>
          </c:val>
        </c:ser>
        <c:ser>
          <c:idx val="2"/>
          <c:order val="2"/>
          <c:tx>
            <c:v>Americas</c:v>
          </c:tx>
          <c:spPr>
            <a:solidFill xmlns:a="http://schemas.openxmlformats.org/drawingml/2006/main">
              <a:srgbClr val="8899BB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10.1</c:v>
              </c:pt>
              <c:pt idx="1">
                <c:v>11.2</c:v>
              </c:pt>
              <c:pt idx="2">
                <c:v>12</c:v>
              </c:pt>
              <c:pt idx="3">
                <c:v>14.6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899BB"/>
                </a:solidFill>
                <a:latin typeface="Calibri"/>
                <a:ea typeface="Calibri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899BB"/>
                </a:solidFill>
                <a:latin typeface="Calibri"/>
                <a:ea typeface="Calibri"/>
              </a:defRPr>
            </a:pPr>
          </a:p>
        </c:txPr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" name="Title"/>
          <p:cNvSpPr txBox="1"/>
          <p:nvPr/>
        </p:nvSpPr>
        <p:spPr>
          <a:xfrm xmlns:a="http://schemas.openxmlformats.org/drawingml/2006/main">
            <a:off x="720000" y="216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FY26 Strategic Review</a:t>
            </a:r>
          </a:p>
        </p:txBody>
      </p:sp>
      <p:sp>
        <p:nvSpPr>
          <p:cNvPr id="10001" name="Subtitle"/>
          <p:cNvSpPr txBox="1"/>
          <p:nvPr/>
        </p:nvSpPr>
        <p:spPr>
          <a:xfrm xmlns:a="http://schemas.openxmlformats.org/drawingml/2006/main">
            <a:off x="720000" y="342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CADCFC"/>
                </a:solidFill>
                <a:latin typeface="Calibri"/>
                <a:ea typeface="Calibri"/>
              </a:rPr>
              <a:t>Q4 Board Presentation · May 2026</a:t>
            </a:r>
          </a:p>
        </p:txBody>
      </p:sp>
      <p:sp>
        <p:nvSpPr>
          <p:cNvPr id="10002" name="AccentLine"/>
          <p:cNvSpPr/>
          <p:nvPr/>
        </p:nvSpPr>
        <p:spPr>
          <a:xfrm xmlns:a="http://schemas.openxmlformats.org/drawingml/2006/main">
            <a:off x="4320000" y="4140000"/>
            <a:ext cx="3553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" name="SlideTitle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Key Performance Indicators</a:t>
            </a:r>
          </a:p>
        </p:txBody>
      </p:sp>
      <p:sp>
        <p:nvSpPr>
          <p:cNvPr id="10006" name="Card1BG"/>
          <p:cNvSpPr/>
          <p:nvPr/>
        </p:nvSpPr>
        <p:spPr>
          <a:xfrm xmlns:a="http://schemas.openxmlformats.org/drawingml/2006/main">
            <a:off x="457200" y="1620000"/>
            <a:ext cx="35784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C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7" name="Card1Value"/>
          <p:cNvSpPr txBox="1"/>
          <p:nvPr/>
        </p:nvSpPr>
        <p:spPr>
          <a:xfrm xmlns:a="http://schemas.openxmlformats.org/drawingml/2006/main">
            <a:off x="457200" y="1872000"/>
            <a:ext cx="35784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1E2761"/>
                </a:solidFill>
                <a:latin typeface="Georgia"/>
                <a:ea typeface="Georgia"/>
              </a:rPr>
              <a:t>$48.2M</a:t>
            </a:r>
          </a:p>
        </p:txBody>
      </p:sp>
      <p:sp>
        <p:nvSpPr>
          <p:cNvPr id="10008" name="Card1Label"/>
          <p:cNvSpPr txBox="1"/>
          <p:nvPr/>
        </p:nvSpPr>
        <p:spPr>
          <a:xfrm xmlns:a="http://schemas.openxmlformats.org/drawingml/2006/main">
            <a:off x="457200" y="2808000"/>
            <a:ext cx="35784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E2761"/>
                </a:solidFill>
                <a:latin typeface="Calibri"/>
                <a:ea typeface="Calibri"/>
              </a:rPr>
              <a:t>Annual Revenue</a:t>
            </a:r>
          </a:p>
        </p:txBody>
      </p:sp>
      <p:sp>
        <p:nvSpPr>
          <p:cNvPr id="10009" name="Card1Sub"/>
          <p:cNvSpPr txBox="1"/>
          <p:nvPr/>
        </p:nvSpPr>
        <p:spPr>
          <a:xfrm xmlns:a="http://schemas.openxmlformats.org/drawingml/2006/main">
            <a:off x="457200" y="3168000"/>
            <a:ext cx="35784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99BB"/>
                </a:solidFill>
                <a:latin typeface="Calibri"/>
                <a:ea typeface="Calibri"/>
              </a:rPr>
              <a:t>+18% YoY · Above target</a:t>
            </a:r>
          </a:p>
        </p:txBody>
      </p:sp>
      <p:sp>
        <p:nvSpPr>
          <p:cNvPr id="10010" name="Card2BG"/>
          <p:cNvSpPr/>
          <p:nvPr/>
        </p:nvSpPr>
        <p:spPr>
          <a:xfrm xmlns:a="http://schemas.openxmlformats.org/drawingml/2006/main">
            <a:off x="4309200" y="1620000"/>
            <a:ext cx="35784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C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1" name="Card2Value"/>
          <p:cNvSpPr txBox="1"/>
          <p:nvPr/>
        </p:nvSpPr>
        <p:spPr>
          <a:xfrm xmlns:a="http://schemas.openxmlformats.org/drawingml/2006/main">
            <a:off x="4309200" y="1872000"/>
            <a:ext cx="35784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1E2761"/>
                </a:solidFill>
                <a:latin typeface="Georgia"/>
                <a:ea typeface="Georgia"/>
              </a:rPr>
              <a:t>118%</a:t>
            </a:r>
          </a:p>
        </p:txBody>
      </p:sp>
      <p:sp>
        <p:nvSpPr>
          <p:cNvPr id="10012" name="Card2Label"/>
          <p:cNvSpPr txBox="1"/>
          <p:nvPr/>
        </p:nvSpPr>
        <p:spPr>
          <a:xfrm xmlns:a="http://schemas.openxmlformats.org/drawingml/2006/main">
            <a:off x="4309200" y="2808000"/>
            <a:ext cx="35784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E2761"/>
                </a:solidFill>
                <a:latin typeface="Calibri"/>
                <a:ea typeface="Calibri"/>
              </a:rPr>
              <a:t>Net Revenue Retention</a:t>
            </a:r>
          </a:p>
        </p:txBody>
      </p:sp>
      <p:sp>
        <p:nvSpPr>
          <p:cNvPr id="10013" name="Card2Sub"/>
          <p:cNvSpPr txBox="1"/>
          <p:nvPr/>
        </p:nvSpPr>
        <p:spPr>
          <a:xfrm xmlns:a="http://schemas.openxmlformats.org/drawingml/2006/main">
            <a:off x="4309200" y="3168000"/>
            <a:ext cx="35784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99BB"/>
                </a:solidFill>
                <a:latin typeface="Calibri"/>
                <a:ea typeface="Calibri"/>
              </a:rPr>
              <a:t>+3pp YoY · Best-in-class</a:t>
            </a:r>
          </a:p>
        </p:txBody>
      </p:sp>
      <p:sp>
        <p:nvSpPr>
          <p:cNvPr id="10014" name="Card3BG"/>
          <p:cNvSpPr/>
          <p:nvPr/>
        </p:nvSpPr>
        <p:spPr>
          <a:xfrm xmlns:a="http://schemas.openxmlformats.org/drawingml/2006/main">
            <a:off x="8161200" y="1620000"/>
            <a:ext cx="35784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C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5" name="Card3Value"/>
          <p:cNvSpPr txBox="1"/>
          <p:nvPr/>
        </p:nvSpPr>
        <p:spPr>
          <a:xfrm xmlns:a="http://schemas.openxmlformats.org/drawingml/2006/main">
            <a:off x="8161200" y="1872000"/>
            <a:ext cx="35784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1E2761"/>
                </a:solidFill>
                <a:latin typeface="Georgia"/>
                <a:ea typeface="Georgia"/>
              </a:rPr>
              <a:t>32.5%</a:t>
            </a:r>
          </a:p>
        </p:txBody>
      </p:sp>
      <p:sp>
        <p:nvSpPr>
          <p:cNvPr id="10016" name="Card3Label"/>
          <p:cNvSpPr txBox="1"/>
          <p:nvPr/>
        </p:nvSpPr>
        <p:spPr>
          <a:xfrm xmlns:a="http://schemas.openxmlformats.org/drawingml/2006/main">
            <a:off x="8161200" y="2808000"/>
            <a:ext cx="35784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E2761"/>
                </a:solidFill>
                <a:latin typeface="Calibri"/>
                <a:ea typeface="Calibri"/>
              </a:rPr>
              <a:t>Market Share</a:t>
            </a:r>
          </a:p>
        </p:txBody>
      </p:sp>
      <p:sp>
        <p:nvSpPr>
          <p:cNvPr id="10017" name="Card3Sub"/>
          <p:cNvSpPr txBox="1"/>
          <p:nvPr/>
        </p:nvSpPr>
        <p:spPr>
          <a:xfrm xmlns:a="http://schemas.openxmlformats.org/drawingml/2006/main">
            <a:off x="8161200" y="3168000"/>
            <a:ext cx="35784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99BB"/>
                </a:solidFill>
                <a:latin typeface="Calibri"/>
                <a:ea typeface="Calibri"/>
              </a:rPr>
              <a:t>+2.1pp · #1 in EMEA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8" name="SlideTitle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Revenue Growth Trajectory</a:t>
            </a:r>
          </a:p>
        </p:txBody>
      </p:sp>
      <p:graphicFrame>
        <p:nvGraphicFramePr>
          <p:cNvPr id="10019" name="RevenueChart"/>
          <p:cNvGraphicFramePr/>
          <p:nvPr/>
        </p:nvGraphicFramePr>
        <p:xfrm>
          <a:off xmlns:a="http://schemas.openxmlformats.org/drawingml/2006/main" x="457200" y="1440000"/>
          <a:ext xmlns:a="http://schemas.openxmlformats.org/drawingml/2006/main" cx="6480000" cy="396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998e8e57c14af8"/>
          </a:graphicData>
        </a:graphic>
      </p:graphicFrame>
      <p:sp>
        <p:nvSpPr>
          <p:cNvPr id="10020" name="CommentaryTitle"/>
          <p:cNvSpPr txBox="1"/>
          <p:nvPr/>
        </p:nvSpPr>
        <p:spPr>
          <a:xfrm xmlns:a="http://schemas.openxmlformats.org/drawingml/2006/main">
            <a:off x="7380000" y="1440000"/>
            <a:ext cx="43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Georgia"/>
                <a:ea typeface="Georgia"/>
              </a:rPr>
              <a:t>Key Takeaways</a:t>
            </a:r>
          </a:p>
        </p:txBody>
      </p:sp>
      <p:sp>
        <p:nvSpPr>
          <p:cNvPr id="10021" name="Insight1"/>
          <p:cNvSpPr txBox="1"/>
          <p:nvPr/>
        </p:nvSpPr>
        <p:spPr>
          <a:xfrm xmlns:a="http://schemas.openxmlformats.org/drawingml/2006/main">
            <a:off x="7380000" y="2160000"/>
            <a:ext cx="432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Americas leads with 4.6M in Q4, driven by enterprise expansion and 3 new Fortune 500 logos.</a:t>
            </a:r>
          </a:p>
        </p:txBody>
      </p:sp>
      <p:sp>
        <p:nvSpPr>
          <p:cNvPr id="10022" name="Insight2"/>
          <p:cNvSpPr txBox="1"/>
          <p:nvPr/>
        </p:nvSpPr>
        <p:spPr>
          <a:xfrm xmlns:a="http://schemas.openxmlformats.org/drawingml/2006/main">
            <a:off x="7380000" y="3240000"/>
            <a:ext cx="432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EMEA grew 44% YoY — fastest region — fueled by DACH market entry and strategic partnership with Siemens.</a:t>
            </a:r>
          </a:p>
        </p:txBody>
      </p:sp>
      <p:sp>
        <p:nvSpPr>
          <p:cNvPr id="10023" name="Insight3"/>
          <p:cNvSpPr txBox="1"/>
          <p:nvPr/>
        </p:nvSpPr>
        <p:spPr>
          <a:xfrm xmlns:a="http://schemas.openxmlformats.org/drawingml/2006/main">
            <a:off x="7380000" y="4320000"/>
            <a:ext cx="432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APAC pipeline grew 2.3x in H2; Japan and Australia deals expected to close Q1 FY27.</a:t>
            </a:r>
          </a:p>
        </p:txBody>
      </p:sp>
      <p:sp>
        <p:nvSpPr>
          <p:cNvPr id="10024" name="DividerLine"/>
          <p:cNvSpPr/>
          <p:nvPr/>
        </p:nvSpPr>
        <p:spPr>
          <a:xfrm xmlns:a="http://schemas.openxmlformats.org/drawingml/2006/main">
            <a:off x="7128000" y="1440000"/>
            <a:ext cx="18000" cy="37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C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5" name="SlideTitle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H2 Strategic Priorities</a:t>
            </a:r>
          </a:p>
        </p:txBody>
      </p:sp>
      <p:sp>
        <p:nvSpPr>
          <p:cNvPr id="10026" name="Icon1"/>
          <p:cNvSpPr txBox="1"/>
          <p:nvPr/>
        </p:nvSpPr>
        <p:spPr>
          <a:xfrm xmlns:a="http://schemas.openxmlformats.org/drawingml/2006/main">
            <a:off x="720000" y="1620000"/>
            <a:ext cx="7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0027" name="Title1"/>
          <p:cNvSpPr txBox="1"/>
          <p:nvPr/>
        </p:nvSpPr>
        <p:spPr>
          <a:xfrm xmlns:a="http://schemas.openxmlformats.org/drawingml/2006/main">
            <a:off x="1800000" y="1620000"/>
            <a:ext cx="97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Georgia"/>
                <a:ea typeface="Georgia"/>
              </a:rPr>
              <a:t>Enterprise Platform Expansion</a:t>
            </a:r>
          </a:p>
        </p:txBody>
      </p:sp>
      <p:sp>
        <p:nvSpPr>
          <p:cNvPr id="10028" name="Desc1"/>
          <p:cNvSpPr txBox="1"/>
          <p:nvPr/>
        </p:nvSpPr>
        <p:spPr>
          <a:xfrm xmlns:a="http://schemas.openxmlformats.org/drawingml/2006/main">
            <a:off x="1800000" y="2160000"/>
            <a:ext cx="97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Launch self-serve analytics module, SSO enterprise, and advanced RBAC. Target: 40 enterprise logos by Q4.</a:t>
            </a:r>
          </a:p>
        </p:txBody>
      </p:sp>
      <p:sp>
        <p:nvSpPr>
          <p:cNvPr id="10029" name="Icon2"/>
          <p:cNvSpPr txBox="1"/>
          <p:nvPr/>
        </p:nvSpPr>
        <p:spPr>
          <a:xfrm xmlns:a="http://schemas.openxmlformats.org/drawingml/2006/main">
            <a:off x="720000" y="3060000"/>
            <a:ext cx="7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0030" name="Title2"/>
          <p:cNvSpPr txBox="1"/>
          <p:nvPr/>
        </p:nvSpPr>
        <p:spPr>
          <a:xfrm xmlns:a="http://schemas.openxmlformats.org/drawingml/2006/main">
            <a:off x="1800000" y="3060000"/>
            <a:ext cx="97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Georgia"/>
                <a:ea typeface="Georgia"/>
              </a:rPr>
              <a:t>EMEA Go-to-Market Acceleration</a:t>
            </a:r>
          </a:p>
        </p:txBody>
      </p:sp>
      <p:sp>
        <p:nvSpPr>
          <p:cNvPr id="10031" name="Desc2"/>
          <p:cNvSpPr txBox="1"/>
          <p:nvPr/>
        </p:nvSpPr>
        <p:spPr>
          <a:xfrm xmlns:a="http://schemas.openxmlformats.org/drawingml/2006/main">
            <a:off x="1800000" y="3600000"/>
            <a:ext cx="97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Hire Berlin office (15 headcount), localize product for DE/FR markets, and establish 3 channel partnerships.</a:t>
            </a:r>
          </a:p>
        </p:txBody>
      </p:sp>
      <p:sp>
        <p:nvSpPr>
          <p:cNvPr id="10032" name="Icon3"/>
          <p:cNvSpPr txBox="1"/>
          <p:nvPr/>
        </p:nvSpPr>
        <p:spPr>
          <a:xfrm xmlns:a="http://schemas.openxmlformats.org/drawingml/2006/main">
            <a:off x="720000" y="4500000"/>
            <a:ext cx="7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0033" name="Title3"/>
          <p:cNvSpPr txBox="1"/>
          <p:nvPr/>
        </p:nvSpPr>
        <p:spPr>
          <a:xfrm xmlns:a="http://schemas.openxmlformats.org/drawingml/2006/main">
            <a:off x="1800000" y="4500000"/>
            <a:ext cx="97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2761"/>
                </a:solidFill>
                <a:latin typeface="Georgia"/>
                <a:ea typeface="Georgia"/>
              </a:rPr>
              <a:t>AI-Powered Insights (R&amp;D)</a:t>
            </a:r>
          </a:p>
        </p:txBody>
      </p:sp>
      <p:sp>
        <p:nvSpPr>
          <p:cNvPr id="10034" name="Desc3"/>
          <p:cNvSpPr txBox="1"/>
          <p:nvPr/>
        </p:nvSpPr>
        <p:spPr>
          <a:xfrm xmlns:a="http://schemas.openxmlformats.org/drawingml/2006/main">
            <a:off x="1800000" y="5040000"/>
            <a:ext cx="97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Ship anomaly detection v1, deploy LLM-based natural language querying beta to 50 design partners.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35" name="ClosingTitle"/>
          <p:cNvSpPr txBox="1"/>
          <p:nvPr/>
        </p:nvSpPr>
        <p:spPr>
          <a:xfrm xmlns:a="http://schemas.openxmlformats.org/drawingml/2006/main">
            <a:off x="720000" y="180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Georgia"/>
                <a:ea typeface="Georgia"/>
              </a:rPr>
              <a:t>Thank You</a:t>
            </a:r>
          </a:p>
        </p:txBody>
      </p:sp>
      <p:sp>
        <p:nvSpPr>
          <p:cNvPr id="10036" name="ClosingLine"/>
          <p:cNvSpPr/>
          <p:nvPr/>
        </p:nvSpPr>
        <p:spPr>
          <a:xfrm xmlns:a="http://schemas.openxmlformats.org/drawingml/2006/main">
            <a:off x="4320000" y="3060000"/>
            <a:ext cx="3553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7" name="ClosingSub"/>
          <p:cNvSpPr txBox="1"/>
          <p:nvPr/>
        </p:nvSpPr>
        <p:spPr>
          <a:xfrm xmlns:a="http://schemas.openxmlformats.org/drawingml/2006/main">
            <a:off x="720000" y="342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CADCFC"/>
                </a:solidFill>
                <a:latin typeface="Calibri"/>
                <a:ea typeface="Calibri"/>
              </a:rPr>
              <a:t>Q4 Board Presentation · May 2026</a:t>
            </a:r>
          </a:p>
          <a:p xmlns:a="http://schemas.openxmlformats.org/drawingml/2006/main">
            <a:pPr algn="ctr"/>
            <a:r>
              <a:rPr lang="en-US" sz="2000">
                <a:solidFill>
                  <a:srgbClr val="CADCFC"/>
                </a:solidFill>
                <a:latin typeface="Calibri"/>
                <a:ea typeface="Calibri"/>
              </a:rPr>
              <a:t>Questions &amp; Discussion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OfficeCLI/1.0.96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2026-05-24T14:24:47Z</dcterms:created>
  <cp:lastModifiedBy>OfficeCLI</cp:lastModifiedBy>
  <dcterms:modified xsi:type="dcterms:W3CDTF">2026-05-24T14:24:47Z</dcterms:modified>
</cp:coreProperties>
</file>