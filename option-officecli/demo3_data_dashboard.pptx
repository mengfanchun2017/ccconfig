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55d0f3b93784b18" /><Relationship Type="http://schemas.openxmlformats.org/package/2006/relationships/metadata/core-properties" Target="/docProps/core.xml" Id="R8b86cb489d6d4b41" /><Relationship Type="http://schemas.openxmlformats.org/officeDocument/2006/relationships/extended-properties" Target="/docProps/app.xml" Id="R21d58fc72c294cc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60f416add4c946a6"/>
    <p:sldId id="257" r:id="Rc08ce4b913f346d2"/>
    <p:sldId id="258" r:id="R68cf17260aaf4e53"/>
    <p:sldId id="259" r:id="R5e964289f1fa414c"/>
    <p:sldId id="260" r:id="R776f7f4a057b442b"/>
    <p:sldId id="261" r:id="Recc083eaf8c44de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0f416add4c946a6" /><Relationship Type="http://schemas.openxmlformats.org/officeDocument/2006/relationships/slide" Target="/ppt/slides/slide2.xml" Id="Rc08ce4b913f346d2" /><Relationship Type="http://schemas.openxmlformats.org/officeDocument/2006/relationships/slide" Target="/ppt/slides/slide3.xml" Id="R68cf17260aaf4e53" /><Relationship Type="http://schemas.openxmlformats.org/officeDocument/2006/relationships/slide" Target="/ppt/slides/slide4.xml" Id="R5e964289f1fa414c" /><Relationship Type="http://schemas.openxmlformats.org/officeDocument/2006/relationships/slide" Target="/ppt/slides/slide5.xml" Id="R776f7f4a057b442b" /><Relationship Type="http://schemas.openxmlformats.org/officeDocument/2006/relationships/slide" Target="/ppt/slides/slide6.xml" Id="Recc083eaf8c44d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Monthly performance review for June 2026. Headline metrics: 847K daily active users, 2.4M monthly revenue, 99.97% uptime. All metrics trending up quarter-over-quarter.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Executive summary: all metrics green. DAU growth is our strongest signal — the viral loop kicked in this quarter. Revenue is .2M above plan. Uptime is a non-issue at this point, which lets engineering focus on features instead of firefighting.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User growth is our strongest narrative. 63% DAU growth in 6 months. The viral sharing feature (shipped April) was the inflection point. WAU/DAU ratio improvement shows the product is becoming a daily habit.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Enterprise dominates at 55% of revenue from just 240 accounts. The land-and-expand motion is working: Pro customers upgrading to Enterprise drove .2M of the growth. Add-ons are under-penetrated — a clear upsell opportunity.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Four key findings with clear actions. The viral loop is our competitive advantage — protect and invest. Add-on revenue is the biggest untapped opportunity. Margin improvement buys us runway to invest in growth without raising.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Three concrete next steps with dates. Engineering allocation review on July 1 is the most critical — we need to decide whether to pull forward the marketplace launch. Q3 OKRs should bake in the viral growth targets.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8db244643b4f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d20b139d14d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c7d0728d44f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bd2b6c0e8a48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941f5c3da4a1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37a290e1b8d4e3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a883718d14519" /><Relationship Type="http://schemas.openxmlformats.org/officeDocument/2006/relationships/notesSlide" Target="/ppt/notesSlides/notesSlide1.xml" Id="R084a693fa16d4d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ae1d75fc4459e" /><Relationship Type="http://schemas.openxmlformats.org/officeDocument/2006/relationships/notesSlide" Target="/ppt/notesSlides/notesSlide2.xml" Id="Rad00ba5f6e634a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7fef485a84340" /><Relationship Type="http://schemas.openxmlformats.org/officeDocument/2006/relationships/chart" Target="/ppt/slides/charts/chart1.xml" Id="Rdf8b0220cefb4ccb" /><Relationship Type="http://schemas.openxmlformats.org/officeDocument/2006/relationships/notesSlide" Target="/ppt/notesSlides/notesSlide3.xml" Id="Rb4d1c03da31b4e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88b1d078442d8" /><Relationship Type="http://schemas.openxmlformats.org/officeDocument/2006/relationships/chart" Target="/ppt/slides/charts/chart2.xml" Id="R06e5b851b91943c7" /><Relationship Type="http://schemas.openxmlformats.org/officeDocument/2006/relationships/notesSlide" Target="/ppt/notesSlides/notesSlide4.xml" Id="Rfa5390eae6c34b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e31adb92e4eaf" /><Relationship Type="http://schemas.openxmlformats.org/officeDocument/2006/relationships/notesSlide" Target="/ppt/notesSlides/notesSlide5.xml" Id="R505c6caa95794a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3a69135aa4f91" /><Relationship Type="http://schemas.openxmlformats.org/officeDocument/2006/relationships/notesSlide" Target="/ppt/notesSlides/notesSlide6.xml" Id="R4259a24a9ac64456" /></Relationships>
</file>

<file path=ppt/slides/charts/chart1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>
                <a:solidFill>
                  <a:srgbClr val="065A82"/>
                </a:solidFill>
              </a:rPr>
              <a:t>DAU &amp; WAU Growth (6-Month Trend)</a:t>
            </a:r>
          </a:p>
        </c:rich>
      </c:tx>
      <c:overlay val="0"/>
    </c:title>
    <c:plotArea>
      <c:layout/>
      <c:lineChart>
        <c:grouping val="standard"/>
        <c:varyColors val="0"/>
        <c:ser>
          <c:idx val="0"/>
          <c:order val="0"/>
          <c:tx>
            <c:v>Daily Active Users (K)</c:v>
          </c:tx>
          <c:spPr>
            <a:solidFill xmlns:a="http://schemas.openxmlformats.org/drawingml/2006/main">
              <a:srgbClr val="4472C4"/>
            </a:solidFill>
          </c:spPr>
          <c:cat>
            <c:strLit>
              <c:ptCount val="6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</c:strLit>
          </c:cat>
          <c:val>
            <c:numLit>
              <c:formatCode>General</c:formatCode>
              <c:ptCount val="6"/>
              <c:pt idx="0">
                <c:v>520</c:v>
              </c:pt>
              <c:pt idx="1">
                <c:v>580</c:v>
              </c:pt>
              <c:pt idx="2">
                <c:v>610</c:v>
              </c:pt>
              <c:pt idx="3">
                <c:v>680</c:v>
              </c:pt>
              <c:pt idx="4">
                <c:v>753</c:v>
              </c:pt>
              <c:pt idx="5">
                <c:v>847</c:v>
              </c:pt>
            </c:numLit>
          </c:val>
        </c:ser>
        <c:ser>
          <c:idx val="1"/>
          <c:order val="1"/>
          <c:tx>
            <c:v>Weekly Active (K)</c:v>
          </c:tx>
          <c:spPr>
            <a:solidFill xmlns:a="http://schemas.openxmlformats.org/drawingml/2006/main">
              <a:srgbClr val="ED7D31"/>
            </a:solidFill>
          </c:spPr>
          <c:cat>
            <c:strLit>
              <c:ptCount val="6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</c:strLit>
          </c:cat>
          <c:val>
            <c:numLit>
              <c:formatCode>General</c:formatCode>
              <c:ptCount val="6"/>
              <c:pt idx="0">
                <c:v>890</c:v>
              </c:pt>
              <c:pt idx="1">
                <c:v>950</c:v>
              </c:pt>
              <c:pt idx="2">
                <c:v>1020</c:v>
              </c:pt>
              <c:pt idx="3">
                <c:v>1150</c:v>
              </c:pt>
              <c:pt idx="4">
                <c:v>1280</c:v>
              </c:pt>
              <c:pt idx="5">
                <c:v>1420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6B8FAA"/>
                </a:solidFill>
                <a:latin typeface="Calibri"/>
                <a:ea typeface="Calibri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6B8FAA"/>
                </a:solidFill>
                <a:latin typeface="Calibri"/>
                <a:ea typeface="Calibri"/>
              </a:defRPr>
            </a:pPr>
          </a:p>
        </c:txPr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charts/chart2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>
                <a:solidFill>
                  <a:srgbClr val="065A82"/>
                </a:solidFill>
              </a:rPr>
              <a:t>Revenue by Tier ()</a:t>
            </a:r>
          </a:p>
        </c:rich>
      </c:tx>
      <c:overlay val="0"/>
    </c:title>
    <c:plotArea>
      <c:layout/>
      <c:doughnutChart>
        <c:varyColors val="1"/>
        <c:ser>
          <c:idx val="0"/>
          <c:order val="0"/>
          <c:tx>
            <c:v>Revenue Share</c:v>
          </c:tx>
          <c:cat>
            <c:strLit>
              <c:ptCount val="4"/>
              <c:pt idx="0">
                <c:v>Enterprise</c:v>
              </c:pt>
              <c:pt idx="1">
                <c:v>Pro</c:v>
              </c:pt>
              <c:pt idx="2">
                <c:v>Starter</c:v>
              </c:pt>
              <c:pt idx="3">
                <c:v>Add-ons</c:v>
              </c:pt>
            </c:strLit>
          </c:cat>
          <c:val>
            <c:numLit>
              <c:formatCode>General</c:formatCode>
              <c:ptCount val="4"/>
              <c:pt idx="0">
                <c:v>6.8</c:v>
              </c:pt>
              <c:pt idx="1">
                <c:v>3.2</c:v>
              </c:pt>
              <c:pt idx="2">
                <c:v>1.4</c:v>
              </c:pt>
              <c:pt idx="3">
                <c:v>1</c:v>
              </c:pt>
            </c:numLit>
          </c:val>
        </c:ser>
        <c:holeSize val="50"/>
      </c:doughnutChart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5A82"/>
            </a:gs>
            <a:gs pos="100000">
              <a:srgbClr val="1C7293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0" name="Title"/>
          <p:cNvSpPr txBox="1"/>
          <p:nvPr/>
        </p:nvSpPr>
        <p:spPr>
          <a:xfrm xmlns:a="http://schemas.openxmlformats.org/drawingml/2006/main">
            <a:off x="720000" y="1800000"/>
            <a:ext cx="107532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Trebuchet"/>
                <a:ea typeface="Trebuchet"/>
              </a:rPr>
              <a:t>Q2 Platform Analytics</a:t>
            </a:r>
          </a:p>
        </p:txBody>
      </p:sp>
      <p:sp>
        <p:nvSpPr>
          <p:cNvPr id="10001" name="Subtitle"/>
          <p:cNvSpPr txBox="1"/>
          <p:nvPr/>
        </p:nvSpPr>
        <p:spPr>
          <a:xfrm xmlns:a="http://schemas.openxmlformats.org/drawingml/2006/main">
            <a:off x="720000" y="306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6B8FAA"/>
                </a:solidFill>
                <a:latin typeface="Calibri"/>
                <a:ea typeface="Calibri"/>
              </a:rPr>
              <a:t>Monthly Performance Review  ·  June 2026</a:t>
            </a:r>
          </a:p>
        </p:txBody>
      </p:sp>
      <p:sp>
        <p:nvSpPr>
          <p:cNvPr id="10002" name="AccentLine"/>
          <p:cNvSpPr/>
          <p:nvPr/>
        </p:nvSpPr>
        <p:spPr>
          <a:xfrm xmlns:a="http://schemas.openxmlformats.org/drawingml/2006/main">
            <a:off x="4320000" y="3780000"/>
            <a:ext cx="3553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3" name="Metric1"/>
          <p:cNvSpPr txBox="1"/>
          <p:nvPr/>
        </p:nvSpPr>
        <p:spPr>
          <a:xfrm xmlns:a="http://schemas.openxmlformats.org/drawingml/2006/main">
            <a:off x="720000" y="4680000"/>
            <a:ext cx="32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Trebuchet"/>
                <a:ea typeface="Trebuchet"/>
              </a:rPr>
              <a:t>DAU  ·  847K</a:t>
            </a:r>
          </a:p>
        </p:txBody>
      </p:sp>
      <p:sp>
        <p:nvSpPr>
          <p:cNvPr id="10004" name="Metric2"/>
          <p:cNvSpPr txBox="1"/>
          <p:nvPr/>
        </p:nvSpPr>
        <p:spPr>
          <a:xfrm xmlns:a="http://schemas.openxmlformats.org/drawingml/2006/main">
            <a:off x="4500000" y="4680000"/>
            <a:ext cx="32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Trebuchet"/>
                <a:ea typeface="Trebuchet"/>
              </a:rPr>
              <a:t>Revenue  ·  2.4M</a:t>
            </a:r>
          </a:p>
        </p:txBody>
      </p:sp>
      <p:sp>
        <p:nvSpPr>
          <p:cNvPr id="10005" name="Metric3"/>
          <p:cNvSpPr txBox="1"/>
          <p:nvPr/>
        </p:nvSpPr>
        <p:spPr>
          <a:xfrm xmlns:a="http://schemas.openxmlformats.org/drawingml/2006/main">
            <a:off x="8280000" y="4680000"/>
            <a:ext cx="32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Trebuchet"/>
                <a:ea typeface="Trebuchet"/>
              </a:rPr>
              <a:t>Uptime  ·  99.97%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" name="SlideTitle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65A82"/>
                </a:solidFill>
                <a:latin typeface="Trebuchet"/>
                <a:ea typeface="Trebuchet"/>
              </a:rPr>
              <a:t>Executive Summary</a:t>
            </a:r>
          </a:p>
        </p:txBody>
      </p:sp>
      <p:sp>
        <p:nvSpPr>
          <p:cNvPr id="10007" name="KPI1BG"/>
          <p:cNvSpPr/>
          <p:nvPr/>
        </p:nvSpPr>
        <p:spPr>
          <a:xfrm xmlns:a="http://schemas.openxmlformats.org/drawingml/2006/main">
            <a:off x="457200" y="1440000"/>
            <a:ext cx="360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8" name="KPI1Val"/>
          <p:cNvSpPr txBox="1"/>
          <p:nvPr/>
        </p:nvSpPr>
        <p:spPr>
          <a:xfrm xmlns:a="http://schemas.openxmlformats.org/drawingml/2006/main">
            <a:off x="457200" y="1728000"/>
            <a:ext cx="36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Trebuchet"/>
                <a:ea typeface="Trebuchet"/>
              </a:rPr>
              <a:t>847K</a:t>
            </a:r>
          </a:p>
        </p:txBody>
      </p:sp>
      <p:sp>
        <p:nvSpPr>
          <p:cNvPr id="10009" name="KPI1Label"/>
          <p:cNvSpPr txBox="1"/>
          <p:nvPr/>
        </p:nvSpPr>
        <p:spPr>
          <a:xfrm xmlns:a="http://schemas.openxmlformats.org/drawingml/2006/main">
            <a:off x="457200" y="2628000"/>
            <a:ext cx="36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Daily Active Users</a:t>
            </a:r>
          </a:p>
        </p:txBody>
      </p:sp>
      <p:sp>
        <p:nvSpPr>
          <p:cNvPr id="10010" name="KPI1Change"/>
          <p:cNvSpPr txBox="1"/>
          <p:nvPr/>
        </p:nvSpPr>
        <p:spPr>
          <a:xfrm xmlns:a="http://schemas.openxmlformats.org/drawingml/2006/main">
            <a:off x="457200" y="2988000"/>
            <a:ext cx="36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6B8FAA"/>
                </a:solidFill>
                <a:latin typeface="Calibri"/>
                <a:ea typeface="Calibri"/>
              </a:rPr>
              <a:t>+12.4% vs May</a:t>
            </a:r>
          </a:p>
        </p:txBody>
      </p:sp>
      <p:sp>
        <p:nvSpPr>
          <p:cNvPr id="10011" name="KPI2BG"/>
          <p:cNvSpPr/>
          <p:nvPr/>
        </p:nvSpPr>
        <p:spPr>
          <a:xfrm xmlns:a="http://schemas.openxmlformats.org/drawingml/2006/main">
            <a:off x="4294800" y="1440000"/>
            <a:ext cx="360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2" name="KPI2Val"/>
          <p:cNvSpPr txBox="1"/>
          <p:nvPr/>
        </p:nvSpPr>
        <p:spPr>
          <a:xfrm xmlns:a="http://schemas.openxmlformats.org/drawingml/2006/main">
            <a:off x="4294800" y="1728000"/>
            <a:ext cx="36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Trebuchet"/>
                <a:ea typeface="Trebuchet"/>
              </a:rPr>
              <a:t>$12.4M</a:t>
            </a:r>
          </a:p>
        </p:txBody>
      </p:sp>
      <p:sp>
        <p:nvSpPr>
          <p:cNvPr id="10013" name="KPI2Label"/>
          <p:cNvSpPr txBox="1"/>
          <p:nvPr/>
        </p:nvSpPr>
        <p:spPr>
          <a:xfrm xmlns:a="http://schemas.openxmlformats.org/drawingml/2006/main">
            <a:off x="4294800" y="2628000"/>
            <a:ext cx="36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Monthly Revenue</a:t>
            </a:r>
          </a:p>
        </p:txBody>
      </p:sp>
      <p:sp>
        <p:nvSpPr>
          <p:cNvPr id="10014" name="KPI2Change"/>
          <p:cNvSpPr txBox="1"/>
          <p:nvPr/>
        </p:nvSpPr>
        <p:spPr>
          <a:xfrm xmlns:a="http://schemas.openxmlformats.org/drawingml/2006/main">
            <a:off x="4294800" y="2988000"/>
            <a:ext cx="36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6B8FAA"/>
                </a:solidFill>
                <a:latin typeface="Calibri"/>
                <a:ea typeface="Calibri"/>
              </a:rPr>
              <a:t>+8.7% vs May</a:t>
            </a:r>
          </a:p>
        </p:txBody>
      </p:sp>
      <p:sp>
        <p:nvSpPr>
          <p:cNvPr id="10015" name="KPI3BG"/>
          <p:cNvSpPr/>
          <p:nvPr/>
        </p:nvSpPr>
        <p:spPr>
          <a:xfrm xmlns:a="http://schemas.openxmlformats.org/drawingml/2006/main">
            <a:off x="8132400" y="1440000"/>
            <a:ext cx="360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6" name="KPI3Val"/>
          <p:cNvSpPr txBox="1"/>
          <p:nvPr/>
        </p:nvSpPr>
        <p:spPr>
          <a:xfrm xmlns:a="http://schemas.openxmlformats.org/drawingml/2006/main">
            <a:off x="8132400" y="1728000"/>
            <a:ext cx="36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Trebuchet"/>
                <a:ea typeface="Trebuchet"/>
              </a:rPr>
              <a:t>99.97%</a:t>
            </a:r>
          </a:p>
        </p:txBody>
      </p:sp>
      <p:sp>
        <p:nvSpPr>
          <p:cNvPr id="10017" name="KPI3Label"/>
          <p:cNvSpPr txBox="1"/>
          <p:nvPr/>
        </p:nvSpPr>
        <p:spPr>
          <a:xfrm xmlns:a="http://schemas.openxmlformats.org/drawingml/2006/main">
            <a:off x="8132400" y="2628000"/>
            <a:ext cx="36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Platform Uptime</a:t>
            </a:r>
          </a:p>
        </p:txBody>
      </p:sp>
      <p:sp>
        <p:nvSpPr>
          <p:cNvPr id="10018" name="KPI3Change"/>
          <p:cNvSpPr txBox="1"/>
          <p:nvPr/>
        </p:nvSpPr>
        <p:spPr>
          <a:xfrm xmlns:a="http://schemas.openxmlformats.org/drawingml/2006/main">
            <a:off x="8132400" y="2988000"/>
            <a:ext cx="36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6B8FAA"/>
                </a:solidFill>
                <a:latin typeface="Calibri"/>
                <a:ea typeface="Calibri"/>
              </a:rPr>
              <a:t>SLA: 99.9%  ·  Exceeding</a:t>
            </a:r>
          </a:p>
        </p:txBody>
      </p:sp>
      <p:sp>
        <p:nvSpPr>
          <p:cNvPr id="10019" name="SummaryText"/>
          <p:cNvSpPr txBox="1"/>
          <p:nvPr/>
        </p:nvSpPr>
        <p:spPr>
          <a:xfrm xmlns:a="http://schemas.openxmlformats.org/drawingml/2006/main">
            <a:off x="457200" y="3960000"/>
            <a:ext cx="112788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All three core metrics exceeded targets for June. User growth accelerated (+12.4% MoM), revenue tracked ahead of plan by .2M, and platform reliability maintained five-nines for the 4th consecutive month.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20" name="SlideTitle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65A82"/>
                </a:solidFill>
                <a:latin typeface="Trebuchet"/>
                <a:ea typeface="Trebuchet"/>
              </a:rPr>
              <a:t>User Growth Trajectory</a:t>
            </a:r>
          </a:p>
        </p:txBody>
      </p:sp>
      <p:graphicFrame>
        <p:nvGraphicFramePr>
          <p:cNvPr id="10021" name="GrowthChart"/>
          <p:cNvGraphicFramePr/>
          <p:nvPr/>
        </p:nvGraphicFramePr>
        <p:xfrm>
          <a:off xmlns:a="http://schemas.openxmlformats.org/drawingml/2006/main" x="457200" y="1440000"/>
          <a:ext xmlns:a="http://schemas.openxmlformats.org/drawingml/2006/main" cx="7200000" cy="396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8b0220cefb4ccb"/>
          </a:graphicData>
        </a:graphic>
      </p:graphicFrame>
      <p:sp>
        <p:nvSpPr>
          <p:cNvPr id="10022" name="InsightTitle"/>
          <p:cNvSpPr txBox="1"/>
          <p:nvPr/>
        </p:nvSpPr>
        <p:spPr>
          <a:xfrm xmlns:a="http://schemas.openxmlformats.org/drawingml/2006/main">
            <a:off x="8100000" y="1440000"/>
            <a:ext cx="36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65A82"/>
                </a:solidFill>
                <a:latin typeface="Trebuchet"/>
                <a:ea typeface="Trebuchet"/>
              </a:rPr>
              <a:t>Analysis</a:t>
            </a:r>
          </a:p>
        </p:txBody>
      </p:sp>
      <p:sp>
        <p:nvSpPr>
          <p:cNvPr id="10023" name="Insight1"/>
          <p:cNvSpPr txBox="1"/>
          <p:nvPr/>
        </p:nvSpPr>
        <p:spPr>
          <a:xfrm xmlns:a="http://schemas.openxmlformats.org/drawingml/2006/main">
            <a:off x="8100000" y="2160000"/>
            <a:ext cx="36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DAU grew 63% in 6 months, from 520K to 847K. The acceleration began in April coinciding with the viral sharing feature launch.</a:t>
            </a:r>
          </a:p>
        </p:txBody>
      </p:sp>
      <p:sp>
        <p:nvSpPr>
          <p:cNvPr id="10024" name="Insight2"/>
          <p:cNvSpPr txBox="1"/>
          <p:nvPr/>
        </p:nvSpPr>
        <p:spPr>
          <a:xfrm xmlns:a="http://schemas.openxmlformats.org/drawingml/2006/main">
            <a:off x="8100000" y="3420000"/>
            <a:ext cx="36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WAU/DAU ratio improved from 1.71 to 1.68, indicating stronger daily engagement and habit formation.</a:t>
            </a:r>
          </a:p>
        </p:txBody>
      </p:sp>
      <p:sp>
        <p:nvSpPr>
          <p:cNvPr id="10025" name="Insight3"/>
          <p:cNvSpPr txBox="1"/>
          <p:nvPr/>
        </p:nvSpPr>
        <p:spPr>
          <a:xfrm xmlns:a="http://schemas.openxmlformats.org/drawingml/2006/main">
            <a:off x="8100000" y="4680000"/>
            <a:ext cx="36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2B3A4E"/>
                </a:solidFill>
                <a:latin typeface="Calibri"/>
                <a:ea typeface="Calibri"/>
              </a:rPr>
              <a:t>Projection: 1M DAU by August at current growth rate. Infrastructure scales linearly to 2M.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26" name="SlideTitle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65A82"/>
                </a:solidFill>
                <a:latin typeface="Trebuchet"/>
                <a:ea typeface="Trebuchet"/>
              </a:rPr>
              <a:t>Revenue Composition</a:t>
            </a:r>
          </a:p>
        </p:txBody>
      </p:sp>
      <p:graphicFrame>
        <p:nvGraphicFramePr>
          <p:cNvPr id="10027" name="PieChart"/>
          <p:cNvGraphicFramePr/>
          <p:nvPr/>
        </p:nvGraphicFramePr>
        <p:xfrm>
          <a:off xmlns:a="http://schemas.openxmlformats.org/drawingml/2006/main" x="457200" y="1440000"/>
          <a:ext xmlns:a="http://schemas.openxmlformats.org/drawingml/2006/main" cx="5400000" cy="432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e5b851b91943c7"/>
          </a:graphicData>
        </a:graphic>
      </p:graphicFrame>
      <p:sp>
        <p:nvSpPr>
          <p:cNvPr id="10028" name="TableTitle"/>
          <p:cNvSpPr txBox="1"/>
          <p:nvPr/>
        </p:nvSpPr>
        <p:spPr>
          <a:xfrm xmlns:a="http://schemas.openxmlformats.org/drawingml/2006/main">
            <a:off x="6300000" y="1440000"/>
            <a:ext cx="54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65A82"/>
                </a:solidFill>
                <a:latin typeface="Trebuchet"/>
                <a:ea typeface="Trebuchet"/>
              </a:rPr>
              <a:t>Plan Breakdown</a:t>
            </a:r>
          </a:p>
        </p:txBody>
      </p:sp>
      <p:sp>
        <p:nvSpPr>
          <p:cNvPr id="10029" name="Tier1Label"/>
          <p:cNvSpPr txBox="1"/>
          <p:nvPr/>
        </p:nvSpPr>
        <p:spPr>
          <a:xfrm xmlns:a="http://schemas.openxmlformats.org/drawingml/2006/main">
            <a:off x="6300000" y="2088000"/>
            <a:ext cx="14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65A82"/>
                </a:solidFill>
                <a:latin typeface="Calibri"/>
                <a:ea typeface="Calibri"/>
              </a:rPr>
              <a:t>Enterprise</a:t>
            </a:r>
          </a:p>
        </p:txBody>
      </p:sp>
      <p:sp>
        <p:nvSpPr>
          <p:cNvPr id="10030" name="Tier1Val"/>
          <p:cNvSpPr txBox="1"/>
          <p:nvPr/>
        </p:nvSpPr>
        <p:spPr>
          <a:xfrm xmlns:a="http://schemas.openxmlformats.org/drawingml/2006/main">
            <a:off x="7920000" y="2088000"/>
            <a:ext cx="37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$6.8M  ·  55%</a:t>
            </a:r>
          </a:p>
        </p:txBody>
      </p:sp>
      <p:sp>
        <p:nvSpPr>
          <p:cNvPr id="10031" name="Tier1Desc"/>
          <p:cNvSpPr txBox="1"/>
          <p:nvPr/>
        </p:nvSpPr>
        <p:spPr>
          <a:xfrm xmlns:a="http://schemas.openxmlformats.org/drawingml/2006/main">
            <a:off x="6300000" y="2448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6B8FAA"/>
                </a:solidFill>
                <a:latin typeface="Calibri"/>
                <a:ea typeface="Calibri"/>
              </a:rPr>
              <a:t>240 accounts  ·  8.3K avg ACV</a:t>
            </a:r>
          </a:p>
        </p:txBody>
      </p:sp>
      <p:sp>
        <p:nvSpPr>
          <p:cNvPr id="10032" name="Tier2Label"/>
          <p:cNvSpPr txBox="1"/>
          <p:nvPr/>
        </p:nvSpPr>
        <p:spPr>
          <a:xfrm xmlns:a="http://schemas.openxmlformats.org/drawingml/2006/main">
            <a:off x="6300000" y="2952000"/>
            <a:ext cx="14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65A82"/>
                </a:solidFill>
                <a:latin typeface="Calibri"/>
                <a:ea typeface="Calibri"/>
              </a:rPr>
              <a:t>Pro</a:t>
            </a:r>
          </a:p>
        </p:txBody>
      </p:sp>
      <p:sp>
        <p:nvSpPr>
          <p:cNvPr id="10033" name="Tier2Val"/>
          <p:cNvSpPr txBox="1"/>
          <p:nvPr/>
        </p:nvSpPr>
        <p:spPr>
          <a:xfrm xmlns:a="http://schemas.openxmlformats.org/drawingml/2006/main">
            <a:off x="7920000" y="2952000"/>
            <a:ext cx="37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$3.2M  ·  26%</a:t>
            </a:r>
          </a:p>
        </p:txBody>
      </p:sp>
      <p:sp>
        <p:nvSpPr>
          <p:cNvPr id="10034" name="Tier2Desc"/>
          <p:cNvSpPr txBox="1"/>
          <p:nvPr/>
        </p:nvSpPr>
        <p:spPr>
          <a:xfrm xmlns:a="http://schemas.openxmlformats.org/drawingml/2006/main">
            <a:off x="6300000" y="3312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6B8FAA"/>
                </a:solidFill>
                <a:latin typeface="Calibri"/>
                <a:ea typeface="Calibri"/>
              </a:rPr>
              <a:t>1,850 accounts  ·  .7K avg ACV</a:t>
            </a:r>
          </a:p>
        </p:txBody>
      </p:sp>
      <p:sp>
        <p:nvSpPr>
          <p:cNvPr id="10035" name="Tier3Label"/>
          <p:cNvSpPr txBox="1"/>
          <p:nvPr/>
        </p:nvSpPr>
        <p:spPr>
          <a:xfrm xmlns:a="http://schemas.openxmlformats.org/drawingml/2006/main">
            <a:off x="6300000" y="3816000"/>
            <a:ext cx="14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65A82"/>
                </a:solidFill>
                <a:latin typeface="Calibri"/>
                <a:ea typeface="Calibri"/>
              </a:rPr>
              <a:t>Starter</a:t>
            </a:r>
          </a:p>
        </p:txBody>
      </p:sp>
      <p:sp>
        <p:nvSpPr>
          <p:cNvPr id="10036" name="Tier3Val"/>
          <p:cNvSpPr txBox="1"/>
          <p:nvPr/>
        </p:nvSpPr>
        <p:spPr>
          <a:xfrm xmlns:a="http://schemas.openxmlformats.org/drawingml/2006/main">
            <a:off x="7920000" y="3816000"/>
            <a:ext cx="37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$1.4M  ·  11%</a:t>
            </a:r>
          </a:p>
        </p:txBody>
      </p:sp>
      <p:sp>
        <p:nvSpPr>
          <p:cNvPr id="10037" name="Tier3Desc"/>
          <p:cNvSpPr txBox="1"/>
          <p:nvPr/>
        </p:nvSpPr>
        <p:spPr>
          <a:xfrm xmlns:a="http://schemas.openxmlformats.org/drawingml/2006/main">
            <a:off x="6300000" y="4176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6B8FAA"/>
                </a:solidFill>
                <a:latin typeface="Calibri"/>
                <a:ea typeface="Calibri"/>
              </a:rPr>
              <a:t>4,200 accounts  ·  33 avg ACV</a:t>
            </a:r>
          </a:p>
        </p:txBody>
      </p:sp>
      <p:sp>
        <p:nvSpPr>
          <p:cNvPr id="10038" name="Tier4Label"/>
          <p:cNvSpPr txBox="1"/>
          <p:nvPr/>
        </p:nvSpPr>
        <p:spPr>
          <a:xfrm xmlns:a="http://schemas.openxmlformats.org/drawingml/2006/main">
            <a:off x="6300000" y="4680000"/>
            <a:ext cx="14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65A82"/>
                </a:solidFill>
                <a:latin typeface="Calibri"/>
                <a:ea typeface="Calibri"/>
              </a:rPr>
              <a:t>Add-ons</a:t>
            </a:r>
          </a:p>
        </p:txBody>
      </p:sp>
      <p:sp>
        <p:nvSpPr>
          <p:cNvPr id="10039" name="Tier4Val"/>
          <p:cNvSpPr txBox="1"/>
          <p:nvPr/>
        </p:nvSpPr>
        <p:spPr>
          <a:xfrm xmlns:a="http://schemas.openxmlformats.org/drawingml/2006/main">
            <a:off x="7920000" y="4680000"/>
            <a:ext cx="37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$1.0M  ·  8%</a:t>
            </a:r>
          </a:p>
        </p:txBody>
      </p:sp>
      <p:sp>
        <p:nvSpPr>
          <p:cNvPr id="10040" name="Tier4Desc"/>
          <p:cNvSpPr txBox="1"/>
          <p:nvPr/>
        </p:nvSpPr>
        <p:spPr>
          <a:xfrm xmlns:a="http://schemas.openxmlformats.org/drawingml/2006/main">
            <a:off x="6300000" y="5040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6B8FAA"/>
                </a:solidFill>
                <a:latin typeface="Calibri"/>
                <a:ea typeface="Calibri"/>
              </a:rPr>
              <a:t>API access, SSO, priority support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41" name="SlideTitle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65A82"/>
                </a:solidFill>
                <a:latin typeface="Trebuchet"/>
                <a:ea typeface="Trebuchet"/>
              </a:rPr>
              <a:t>Key Findings &amp; Actions</a:t>
            </a:r>
          </a:p>
        </p:txBody>
      </p:sp>
      <p:sp>
        <p:nvSpPr>
          <p:cNvPr id="10042" name="F1Icon"/>
          <p:cNvSpPr txBox="1"/>
          <p:nvPr/>
        </p:nvSpPr>
        <p:spPr>
          <a:xfrm xmlns:a="http://schemas.openxmlformats.org/drawingml/2006/main">
            <a:off x="540000" y="1620000"/>
            <a:ext cx="216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?</a:t>
            </a:r>
          </a:p>
        </p:txBody>
      </p:sp>
      <p:sp>
        <p:nvSpPr>
          <p:cNvPr id="10043" name="F1Text"/>
          <p:cNvSpPr txBox="1"/>
          <p:nvPr/>
        </p:nvSpPr>
        <p:spPr>
          <a:xfrm xmlns:a="http://schemas.openxmlformats.org/drawingml/2006/main">
            <a:off x="1008000" y="1548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User growth is accelerating — viral coefficient hit 1.4 in June, up from 1.1 in January. Organic signups now exceed paid acquisition.</a:t>
            </a:r>
          </a:p>
        </p:txBody>
      </p:sp>
      <p:sp>
        <p:nvSpPr>
          <p:cNvPr id="10044" name="F2Icon"/>
          <p:cNvSpPr txBox="1"/>
          <p:nvPr/>
        </p:nvSpPr>
        <p:spPr>
          <a:xfrm xmlns:a="http://schemas.openxmlformats.org/drawingml/2006/main">
            <a:off x="540000" y="2700000"/>
            <a:ext cx="216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?</a:t>
            </a:r>
          </a:p>
        </p:txBody>
      </p:sp>
      <p:sp>
        <p:nvSpPr>
          <p:cNvPr id="10045" name="F2Text"/>
          <p:cNvSpPr txBox="1"/>
          <p:nvPr/>
        </p:nvSpPr>
        <p:spPr>
          <a:xfrm xmlns:a="http://schemas.openxmlformats.org/drawingml/2006/main">
            <a:off x="1008000" y="2628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Enterprise revenue concentration is healthy at 55% — no single customer exceeds 4% of total. Add-on attach rate should be the H2 focus.</a:t>
            </a:r>
          </a:p>
        </p:txBody>
      </p:sp>
      <p:sp>
        <p:nvSpPr>
          <p:cNvPr id="10046" name="F3Icon"/>
          <p:cNvSpPr txBox="1"/>
          <p:nvPr/>
        </p:nvSpPr>
        <p:spPr>
          <a:xfrm xmlns:a="http://schemas.openxmlformats.org/drawingml/2006/main">
            <a:off x="540000" y="3780000"/>
            <a:ext cx="216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9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?</a:t>
            </a:r>
          </a:p>
        </p:txBody>
      </p:sp>
      <p:sp>
        <p:nvSpPr>
          <p:cNvPr id="10047" name="F3Text"/>
          <p:cNvSpPr txBox="1"/>
          <p:nvPr/>
        </p:nvSpPr>
        <p:spPr>
          <a:xfrm xmlns:a="http://schemas.openxmlformats.org/drawingml/2006/main">
            <a:off x="1008000" y="3708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Calibri"/>
              </a:rPr>
              <a:t>Infrastructure costs per DAU dropped 22% since January (server optimization + CDN migration). Gross margin improved from 72% to 78%.</a:t>
            </a:r>
          </a:p>
        </p:txBody>
      </p:sp>
      <p:sp>
        <p:nvSpPr>
          <p:cNvPr id="10048" name="F4Icon"/>
          <p:cNvSpPr txBox="1"/>
          <p:nvPr/>
        </p:nvSpPr>
        <p:spPr>
          <a:xfrm xmlns:a="http://schemas.openxmlformats.org/drawingml/2006/main">
            <a:off x="540000" y="4860000"/>
            <a:ext cx="216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16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49" name="F4Text"/>
          <p:cNvSpPr txBox="1"/>
          <p:nvPr/>
        </p:nvSpPr>
        <p:spPr>
          <a:xfrm xmlns:a="http://schemas.openxmlformats.org/drawingml/2006/main">
            <a:off x="1008000" y="4788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65A82"/>
                </a:solidFill>
                <a:latin typeface="Calibri"/>
                <a:ea typeface="Calibri"/>
              </a:rPr>
              <a:t>Action: Double down on viral features in Q3, launch add-on marketplace by September, target 80% gross margin by year-end.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5A82"/>
            </a:gs>
            <a:gs pos="100000">
              <a:srgbClr val="1C7293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/>
      <p:sp>
        <p:nvSpPr>
          <p:cNvPr id="10050" name="ClosingTitle"/>
          <p:cNvSpPr txBox="1"/>
          <p:nvPr/>
        </p:nvSpPr>
        <p:spPr>
          <a:xfrm xmlns:a="http://schemas.openxmlformats.org/drawingml/2006/main">
            <a:off x="720000" y="1440000"/>
            <a:ext cx="107532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Trebuchet"/>
                <a:ea typeface="Trebuchet"/>
              </a:rPr>
              <a:t>Next Steps</a:t>
            </a:r>
          </a:p>
        </p:txBody>
      </p:sp>
      <p:sp>
        <p:nvSpPr>
          <p:cNvPr id="10051" name="ClosingLine"/>
          <p:cNvSpPr/>
          <p:nvPr/>
        </p:nvSpPr>
        <p:spPr>
          <a:xfrm xmlns:a="http://schemas.openxmlformats.org/drawingml/2006/main">
            <a:off x="4320000" y="2700000"/>
            <a:ext cx="3553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52" name="Step1"/>
          <p:cNvSpPr txBox="1"/>
          <p:nvPr/>
        </p:nvSpPr>
        <p:spPr>
          <a:xfrm xmlns:a="http://schemas.openxmlformats.org/drawingml/2006/main">
            <a:off x="1440000" y="3240000"/>
            <a:ext cx="93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1. Review Q2 engineering allocation (July 1)</a:t>
            </a:r>
          </a:p>
        </p:txBody>
      </p:sp>
      <p:sp>
        <p:nvSpPr>
          <p:cNvPr id="10053" name="Step2"/>
          <p:cNvSpPr txBox="1"/>
          <p:nvPr/>
        </p:nvSpPr>
        <p:spPr>
          <a:xfrm xmlns:a="http://schemas.openxmlformats.org/drawingml/2006/main">
            <a:off x="1440000" y="3960000"/>
            <a:ext cx="93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2. Approve add-on marketplace budget (July 8)</a:t>
            </a:r>
          </a:p>
        </p:txBody>
      </p:sp>
      <p:sp>
        <p:nvSpPr>
          <p:cNvPr id="10054" name="Step3"/>
          <p:cNvSpPr txBox="1"/>
          <p:nvPr/>
        </p:nvSpPr>
        <p:spPr>
          <a:xfrm xmlns:a="http://schemas.openxmlformats.org/drawingml/2006/main">
            <a:off x="1440000" y="4680000"/>
            <a:ext cx="93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3. Q3 OKR planning session (July 15)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OfficeCLI/1.0.96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2026-05-24T14:30:05Z</dcterms:created>
  <cp:lastModifiedBy>OfficeCLI</cp:lastModifiedBy>
  <dcterms:modified xsi:type="dcterms:W3CDTF">2026-05-24T14:30:05Z</dcterms:modified>
</cp:coreProperties>
</file>