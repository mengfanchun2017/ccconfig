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4d1923f7d7443a2" /><Relationship Type="http://schemas.openxmlformats.org/package/2006/relationships/metadata/core-properties" Target="/docProps/core.xml" Id="R23b1f82a41214a4a" /><Relationship Type="http://schemas.openxmlformats.org/officeDocument/2006/relationships/extended-properties" Target="/docProps/app.xml" Id="R5a7f2eec0839498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813a21b7e3644cb"/>
    <p:sldId id="257" r:id="R3eadd2422e4b4d38"/>
    <p:sldId id="258" r:id="R17ab9934132c4aed"/>
    <p:sldId id="259" r:id="R41d7178bed7f42a4"/>
    <p:sldId id="260" r:id="R47c9cad22d5c4f8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813a21b7e3644cb" /><Relationship Type="http://schemas.openxmlformats.org/officeDocument/2006/relationships/slide" Target="/ppt/slides/slide2.xml" Id="R3eadd2422e4b4d38" /><Relationship Type="http://schemas.openxmlformats.org/officeDocument/2006/relationships/slide" Target="/ppt/slides/slide3.xml" Id="R17ab9934132c4aed" /><Relationship Type="http://schemas.openxmlformats.org/officeDocument/2006/relationships/slide" Target="/ppt/slides/slide4.xml" Id="R41d7178bed7f42a4" /><Relationship Type="http://schemas.openxmlformats.org/officeDocument/2006/relationships/slide" Target="/ppt/slides/slide5.xml" Id="R47c9cad22d5c4f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Today we unveil Nova Analytics — our biggest launch since the company was founded. Real-time insights with zero configuration. This changes the game for mid-market analytics.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Beta exceeded all targets. 2.3M users, 94% satisfaction, and 12-minute average setup time (vs 4 hours for legacy tools). The product-market fit signal is unmistakable.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 pillars that differentiate Nova: zero-config (onboard in 5min), AI copilot (English-to-SQL), real-time dashboards (sub-second), enterprise security (SOC 2 from day one).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Our launch timeline: Public Beta in June, GA in August with full feature set, AI Copilot in October, and Global Expansion by December. The first three phases are fully funded; December depends on Q3 revenue.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Call to action: nova.io/beta for signups. First 1,000 teams get 6 months free. Our goal is 5,000 beta teams by end of June. Hand out the one-pager with pricing tiers.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33946a3c74b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0a175818f40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074e1edda4c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632f2e1cc44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7609b16d241f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cd50aa976ab4fd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953d773714857" /><Relationship Type="http://schemas.openxmlformats.org/officeDocument/2006/relationships/notesSlide" Target="/ppt/notesSlides/notesSlide1.xml" Id="R92ec490a2ef148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da76795324b3b" /><Relationship Type="http://schemas.openxmlformats.org/officeDocument/2006/relationships/notesSlide" Target="/ppt/notesSlides/notesSlide2.xml" Id="Raf6b5f3fea2048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5d1b7fe72499e" /><Relationship Type="http://schemas.openxmlformats.org/officeDocument/2006/relationships/notesSlide" Target="/ppt/notesSlides/notesSlide3.xml" Id="Rd2f542f55d594a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c41d51f2640e6" /><Relationship Type="http://schemas.openxmlformats.org/officeDocument/2006/relationships/notesSlide" Target="/ppt/notesSlides/notesSlide4.xml" Id="R98aca3385df34a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df542a56c4099" /><Relationship Type="http://schemas.openxmlformats.org/officeDocument/2006/relationships/notesSlide" Target="/ppt/notesSlides/notesSlide5.xml" Id="Rcfba94162f9040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6167"/>
        </a:solidFill>
      </p:bgPr>
    </p:bg>
    <p:spTree>
      <p:nvGrpSpPr>
        <p:cNvPr id="1" name=""/>
        <p:cNvGrpSpPr/>
        <p:nvPr/>
      </p:nvGrpSpPr>
      <p:grpSpPr/>
      <p:sp>
        <p:nvSpPr>
          <p:cNvPr id="10000" name="Label"/>
          <p:cNvSpPr txBox="1"/>
          <p:nvPr/>
        </p:nvSpPr>
        <p:spPr>
          <a:xfrm xmlns:a="http://schemas.openxmlformats.org/drawingml/2006/main">
            <a:off x="720000" y="1080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9E795"/>
                </a:solidFill>
                <a:latin typeface="Arial"/>
                <a:ea typeface="Arial"/>
              </a:rPr>
              <a:t>PRODUCT LAUNCH</a:t>
            </a:r>
          </a:p>
        </p:txBody>
      </p:sp>
      <p:sp>
        <p:nvSpPr>
          <p:cNvPr id="10001" name="Title"/>
          <p:cNvSpPr txBox="1"/>
          <p:nvPr/>
        </p:nvSpPr>
        <p:spPr>
          <a:xfrm xmlns:a="http://schemas.openxmlformats.org/drawingml/2006/main">
            <a:off x="720000" y="1800000"/>
            <a:ext cx="107532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200" b="1">
                <a:solidFill>
                  <a:srgbClr val="FFFFFF"/>
                </a:solidFill>
                <a:latin typeface="Arial"/>
                <a:ea typeface="Arial"/>
              </a:rPr>
              <a:t>Nova Analytics</a:t>
            </a:r>
          </a:p>
        </p:txBody>
      </p:sp>
      <p:sp>
        <p:nvSpPr>
          <p:cNvPr id="10002" name="Tagline"/>
          <p:cNvSpPr txBox="1"/>
          <p:nvPr/>
        </p:nvSpPr>
        <p:spPr>
          <a:xfrm xmlns:a="http://schemas.openxmlformats.org/drawingml/2006/main">
            <a:off x="720000" y="32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>
                <a:solidFill>
                  <a:srgbClr val="F9E795"/>
                </a:solidFill>
                <a:latin typeface="Arial"/>
                <a:ea typeface="Arial"/>
              </a:rPr>
              <a:t>Real-time insights. Zero configuration.</a:t>
            </a:r>
          </a:p>
        </p:txBody>
      </p:sp>
      <p:sp>
        <p:nvSpPr>
          <p:cNvPr id="10003" name="AccentBand"/>
          <p:cNvSpPr/>
          <p:nvPr/>
        </p:nvSpPr>
        <p:spPr>
          <a:xfrm xmlns:a="http://schemas.openxmlformats.org/drawingml/2006/main">
            <a:off x="0" y="5760000"/>
            <a:ext cx="12193200" cy="10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C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4" name="DateLine"/>
          <p:cNvSpPr txBox="1"/>
          <p:nvPr/>
        </p:nvSpPr>
        <p:spPr>
          <a:xfrm xmlns:a="http://schemas.openxmlformats.org/drawingml/2006/main">
            <a:off x="720000" y="5940000"/>
            <a:ext cx="1075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  <a:latin typeface="Arial"/>
                <a:ea typeface="Arial"/>
              </a:rPr>
              <a:t>June 2026  ·  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" name="SlideTitle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96167"/>
                </a:solidFill>
                <a:latin typeface="Arial"/>
                <a:ea typeface="Arial"/>
              </a:rPr>
              <a:t>Beta Performance Highlights</a:t>
            </a:r>
          </a:p>
        </p:txBody>
      </p:sp>
      <p:sp>
        <p:nvSpPr>
          <p:cNvPr id="10006" name="HeroNum"/>
          <p:cNvSpPr txBox="1"/>
          <p:nvPr/>
        </p:nvSpPr>
        <p:spPr>
          <a:xfrm xmlns:a="http://schemas.openxmlformats.org/drawingml/2006/main">
            <a:off x="457200" y="1440000"/>
            <a:ext cx="720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200" b="1">
                <a:solidFill>
                  <a:srgbClr val="F96167"/>
                </a:solidFill>
                <a:latin typeface="Arial"/>
                <a:ea typeface="Arial"/>
              </a:rPr>
              <a:t>2.3M</a:t>
            </a:r>
          </a:p>
        </p:txBody>
      </p:sp>
      <p:sp>
        <p:nvSpPr>
          <p:cNvPr id="10007" name="HeroLabel"/>
          <p:cNvSpPr txBox="1"/>
          <p:nvPr/>
        </p:nvSpPr>
        <p:spPr>
          <a:xfrm xmlns:a="http://schemas.openxmlformats.org/drawingml/2006/main">
            <a:off x="457200" y="3240000"/>
            <a:ext cx="72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8B7E6A"/>
                </a:solidFill>
                <a:latin typeface="Arial"/>
                <a:ea typeface="Arial"/>
              </a:rPr>
              <a:t>Beta users onboarded in 90 days</a:t>
            </a:r>
          </a:p>
        </p:txBody>
      </p:sp>
      <p:sp>
        <p:nvSpPr>
          <p:cNvPr id="10008" name="Stat1Value"/>
          <p:cNvSpPr txBox="1"/>
          <p:nvPr/>
        </p:nvSpPr>
        <p:spPr>
          <a:xfrm xmlns:a="http://schemas.openxmlformats.org/drawingml/2006/main">
            <a:off x="7920000" y="1620000"/>
            <a:ext cx="3816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2F3C7E"/>
                </a:solidFill>
                <a:latin typeface="Arial"/>
                <a:ea typeface="Arial"/>
              </a:rPr>
              <a:t>94%</a:t>
            </a:r>
          </a:p>
        </p:txBody>
      </p:sp>
      <p:sp>
        <p:nvSpPr>
          <p:cNvPr id="10009" name="Stat1Label"/>
          <p:cNvSpPr txBox="1"/>
          <p:nvPr/>
        </p:nvSpPr>
        <p:spPr>
          <a:xfrm xmlns:a="http://schemas.openxmlformats.org/drawingml/2006/main">
            <a:off x="7920000" y="2448000"/>
            <a:ext cx="3816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Arial"/>
                <a:ea typeface="Arial"/>
              </a:rPr>
              <a:t>User satisfaction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Arial"/>
                <a:ea typeface="Arial"/>
              </a:rPr>
              <a:t>(Top 2 box)</a:t>
            </a:r>
          </a:p>
        </p:txBody>
      </p:sp>
      <p:sp>
        <p:nvSpPr>
          <p:cNvPr id="10010" name="Stat2Value"/>
          <p:cNvSpPr txBox="1"/>
          <p:nvPr/>
        </p:nvSpPr>
        <p:spPr>
          <a:xfrm xmlns:a="http://schemas.openxmlformats.org/drawingml/2006/main">
            <a:off x="7920000" y="3420000"/>
            <a:ext cx="3816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2F3C7E"/>
                </a:solidFill>
                <a:latin typeface="Arial"/>
                <a:ea typeface="Arial"/>
              </a:rPr>
              <a:t>12min</a:t>
            </a:r>
          </a:p>
        </p:txBody>
      </p:sp>
      <p:sp>
        <p:nvSpPr>
          <p:cNvPr id="10011" name="Stat2Label"/>
          <p:cNvSpPr txBox="1"/>
          <p:nvPr/>
        </p:nvSpPr>
        <p:spPr>
          <a:xfrm xmlns:a="http://schemas.openxmlformats.org/drawingml/2006/main">
            <a:off x="7920000" y="4248000"/>
            <a:ext cx="3816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Arial"/>
                <a:ea typeface="Arial"/>
              </a:rPr>
              <a:t>Average setup time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Arial"/>
                <a:ea typeface="Arial"/>
              </a:rPr>
              <a:t>(Industry avg: 4 hours)</a:t>
            </a:r>
          </a:p>
        </p:txBody>
      </p:sp>
      <p:sp>
        <p:nvSpPr>
          <p:cNvPr id="10012" name="Stat3Value"/>
          <p:cNvSpPr txBox="1"/>
          <p:nvPr/>
        </p:nvSpPr>
        <p:spPr>
          <a:xfrm xmlns:a="http://schemas.openxmlformats.org/drawingml/2006/main">
            <a:off x="7920000" y="5148000"/>
            <a:ext cx="3816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2F3C7E"/>
                </a:solidFill>
                <a:latin typeface="Arial"/>
                <a:ea typeface="Arial"/>
              </a:rPr>
              <a:t>2.1x</a:t>
            </a:r>
          </a:p>
        </p:txBody>
      </p:sp>
      <p:sp>
        <p:nvSpPr>
          <p:cNvPr id="10013" name="Stat3Label"/>
          <p:cNvSpPr txBox="1"/>
          <p:nvPr/>
        </p:nvSpPr>
        <p:spPr>
          <a:xfrm xmlns:a="http://schemas.openxmlformats.org/drawingml/2006/main">
            <a:off x="7920000" y="5940000"/>
            <a:ext cx="3816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Arial"/>
                <a:ea typeface="Arial"/>
              </a:rPr>
              <a:t>Faster time-to-insight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Arial"/>
                <a:ea typeface="Arial"/>
              </a:rPr>
              <a:t>vs. legacy tools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4" name="SlideTitle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96167"/>
                </a:solidFill>
                <a:latin typeface="Arial"/>
                <a:ea typeface="Arial"/>
              </a:rPr>
              <a:t>What Makes Nova Different</a:t>
            </a:r>
          </a:p>
        </p:txBody>
      </p:sp>
      <p:sp>
        <p:nvSpPr>
          <p:cNvPr id="10015" name="Card1BG"/>
          <p:cNvSpPr/>
          <p:nvPr/>
        </p:nvSpPr>
        <p:spPr>
          <a:xfrm xmlns:a="http://schemas.openxmlformats.org/drawingml/2006/main">
            <a:off x="457200" y="1440000"/>
            <a:ext cx="54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79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6" name="Card1Icon"/>
          <p:cNvSpPr txBox="1"/>
          <p:nvPr/>
        </p:nvSpPr>
        <p:spPr>
          <a:xfrm xmlns:a="http://schemas.openxmlformats.org/drawingml/2006/main">
            <a:off x="720000" y="162000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1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10017" name="Card1Title"/>
          <p:cNvSpPr txBox="1"/>
          <p:nvPr/>
        </p:nvSpPr>
        <p:spPr>
          <a:xfrm xmlns:a="http://schemas.openxmlformats.org/drawingml/2006/main">
            <a:off x="1620000" y="1620000"/>
            <a:ext cx="39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96167"/>
                </a:solidFill>
                <a:latin typeface="Arial"/>
                <a:ea typeface="Arial"/>
              </a:rPr>
              <a:t>Zero-Config Connection</a:t>
            </a:r>
          </a:p>
        </p:txBody>
      </p:sp>
      <p:sp>
        <p:nvSpPr>
          <p:cNvPr id="10018" name="Card1Desc"/>
          <p:cNvSpPr txBox="1"/>
          <p:nvPr/>
        </p:nvSpPr>
        <p:spPr>
          <a:xfrm xmlns:a="http://schemas.openxmlformats.org/drawingml/2006/main">
            <a:off x="1620000" y="2160000"/>
            <a:ext cx="39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Arial"/>
                <a:ea typeface="Arial"/>
              </a:rPr>
              <a:t>Connect any data source in under 5 minutes. 200+ native connectors. No engineering required.</a:t>
            </a:r>
          </a:p>
        </p:txBody>
      </p:sp>
      <p:sp>
        <p:nvSpPr>
          <p:cNvPr id="10019" name="Card2BG"/>
          <p:cNvSpPr/>
          <p:nvPr/>
        </p:nvSpPr>
        <p:spPr>
          <a:xfrm xmlns:a="http://schemas.openxmlformats.org/drawingml/2006/main">
            <a:off x="6145200" y="1440000"/>
            <a:ext cx="54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79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0" name="Card2Icon"/>
          <p:cNvSpPr txBox="1"/>
          <p:nvPr/>
        </p:nvSpPr>
        <p:spPr>
          <a:xfrm xmlns:a="http://schemas.openxmlformats.org/drawingml/2006/main">
            <a:off x="6408000" y="162000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1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10021" name="Card2Title"/>
          <p:cNvSpPr txBox="1"/>
          <p:nvPr/>
        </p:nvSpPr>
        <p:spPr>
          <a:xfrm xmlns:a="http://schemas.openxmlformats.org/drawingml/2006/main">
            <a:off x="7308000" y="1620000"/>
            <a:ext cx="39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96167"/>
                </a:solidFill>
                <a:latin typeface="Arial"/>
                <a:ea typeface="Arial"/>
              </a:rPr>
              <a:t>AI Copilot Built In</a:t>
            </a:r>
          </a:p>
        </p:txBody>
      </p:sp>
      <p:sp>
        <p:nvSpPr>
          <p:cNvPr id="10022" name="Card2Desc"/>
          <p:cNvSpPr txBox="1"/>
          <p:nvPr/>
        </p:nvSpPr>
        <p:spPr>
          <a:xfrm xmlns:a="http://schemas.openxmlformats.org/drawingml/2006/main">
            <a:off x="7308000" y="2160000"/>
            <a:ext cx="39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Arial"/>
                <a:ea typeface="Arial"/>
              </a:rPr>
              <a:t>Ask questions in plain English. Nova's LLM engine writes SQL, builds charts, and explains anomalies automatically.</a:t>
            </a:r>
          </a:p>
        </p:txBody>
      </p:sp>
      <p:sp>
        <p:nvSpPr>
          <p:cNvPr id="10023" name="Card3BG"/>
          <p:cNvSpPr/>
          <p:nvPr/>
        </p:nvSpPr>
        <p:spPr>
          <a:xfrm xmlns:a="http://schemas.openxmlformats.org/drawingml/2006/main">
            <a:off x="457200" y="3960000"/>
            <a:ext cx="54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79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4" name="Card3Icon"/>
          <p:cNvSpPr txBox="1"/>
          <p:nvPr/>
        </p:nvSpPr>
        <p:spPr>
          <a:xfrm xmlns:a="http://schemas.openxmlformats.org/drawingml/2006/main">
            <a:off x="720000" y="414000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1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10025" name="Card3Title"/>
          <p:cNvSpPr txBox="1"/>
          <p:nvPr/>
        </p:nvSpPr>
        <p:spPr>
          <a:xfrm xmlns:a="http://schemas.openxmlformats.org/drawingml/2006/main">
            <a:off x="1620000" y="4140000"/>
            <a:ext cx="39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96167"/>
                </a:solidFill>
                <a:latin typeface="Arial"/>
                <a:ea typeface="Arial"/>
              </a:rPr>
              <a:t>Real-Time Dashboards</a:t>
            </a:r>
          </a:p>
        </p:txBody>
      </p:sp>
      <p:sp>
        <p:nvSpPr>
          <p:cNvPr id="10026" name="Card3Desc"/>
          <p:cNvSpPr txBox="1"/>
          <p:nvPr/>
        </p:nvSpPr>
        <p:spPr>
          <a:xfrm xmlns:a="http://schemas.openxmlformats.org/drawingml/2006/main">
            <a:off x="1620000" y="4680000"/>
            <a:ext cx="39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Arial"/>
                <a:ea typeface="Arial"/>
              </a:rPr>
              <a:t>Sub-second refresh. Embed anywhere: Slack, Notion, your own app. Share with a single link.</a:t>
            </a:r>
          </a:p>
        </p:txBody>
      </p:sp>
      <p:sp>
        <p:nvSpPr>
          <p:cNvPr id="10027" name="Card4BG"/>
          <p:cNvSpPr/>
          <p:nvPr/>
        </p:nvSpPr>
        <p:spPr>
          <a:xfrm xmlns:a="http://schemas.openxmlformats.org/drawingml/2006/main">
            <a:off x="6145200" y="3960000"/>
            <a:ext cx="54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79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8" name="Card4Icon"/>
          <p:cNvSpPr txBox="1"/>
          <p:nvPr/>
        </p:nvSpPr>
        <p:spPr>
          <a:xfrm xmlns:a="http://schemas.openxmlformats.org/drawingml/2006/main">
            <a:off x="6408000" y="4140000"/>
            <a:ext cx="64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1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Arial"/>
                <a:ea typeface="Arial"/>
              </a:rPr>
              <a:t>?</a:t>
            </a:r>
          </a:p>
        </p:txBody>
      </p:sp>
      <p:sp>
        <p:nvSpPr>
          <p:cNvPr id="10029" name="Card4Title"/>
          <p:cNvSpPr txBox="1"/>
          <p:nvPr/>
        </p:nvSpPr>
        <p:spPr>
          <a:xfrm xmlns:a="http://schemas.openxmlformats.org/drawingml/2006/main">
            <a:off x="7308000" y="4140000"/>
            <a:ext cx="39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96167"/>
                </a:solidFill>
                <a:latin typeface="Arial"/>
                <a:ea typeface="Arial"/>
              </a:rPr>
              <a:t>Enterprise Security</a:t>
            </a:r>
          </a:p>
        </p:txBody>
      </p:sp>
      <p:sp>
        <p:nvSpPr>
          <p:cNvPr id="10030" name="Card4Desc"/>
          <p:cNvSpPr txBox="1"/>
          <p:nvPr/>
        </p:nvSpPr>
        <p:spPr>
          <a:xfrm xmlns:a="http://schemas.openxmlformats.org/drawingml/2006/main">
            <a:off x="7308000" y="4680000"/>
            <a:ext cx="39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Arial"/>
                <a:ea typeface="Arial"/>
              </a:rPr>
              <a:t>SOC 2 Type II, SSO, audit logs, data residency controls. Built for the Fortune 500 from day one.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31" name="SlideTitle"/>
          <p:cNvSpPr txBox="1"/>
          <p:nvPr/>
        </p:nvSpPr>
        <p:spPr>
          <a:xfrm xmlns:a="http://schemas.openxmlformats.org/drawingml/2006/main">
            <a:off x="457200" y="432000"/>
            <a:ext cx="11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96167"/>
                </a:solidFill>
                <a:latin typeface="Arial"/>
                <a:ea typeface="Arial"/>
              </a:rPr>
              <a:t>Launch Roadmap</a:t>
            </a:r>
          </a:p>
        </p:txBody>
      </p:sp>
      <p:sp>
        <p:nvSpPr>
          <p:cNvPr id="10032" name="Phase1Num"/>
          <p:cNvSpPr txBox="1"/>
          <p:nvPr/>
        </p:nvSpPr>
        <p:spPr>
          <a:xfrm xmlns:a="http://schemas.openxmlformats.org/drawingml/2006/main">
            <a:off x="457200" y="1800000"/>
            <a:ext cx="25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1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JUN</a:t>
            </a:r>
          </a:p>
        </p:txBody>
      </p:sp>
      <p:sp>
        <p:nvSpPr>
          <p:cNvPr id="10033" name="Phase1Title"/>
          <p:cNvSpPr txBox="1"/>
          <p:nvPr/>
        </p:nvSpPr>
        <p:spPr>
          <a:xfrm xmlns:a="http://schemas.openxmlformats.org/drawingml/2006/main">
            <a:off x="457200" y="2700000"/>
            <a:ext cx="25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F3C7E"/>
                </a:solidFill>
                <a:latin typeface="Arial"/>
                <a:ea typeface="Arial"/>
              </a:rPr>
              <a:t>Public Beta</a:t>
            </a:r>
          </a:p>
        </p:txBody>
      </p:sp>
      <p:sp>
        <p:nvSpPr>
          <p:cNvPr id="10034" name="Phase1Desc"/>
          <p:cNvSpPr txBox="1"/>
          <p:nvPr/>
        </p:nvSpPr>
        <p:spPr>
          <a:xfrm xmlns:a="http://schemas.openxmlformats.org/drawingml/2006/main">
            <a:off x="457200" y="3240000"/>
            <a:ext cx="25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Open signups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Free tier launch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Community forum</a:t>
            </a:r>
          </a:p>
        </p:txBody>
      </p:sp>
      <p:sp>
        <p:nvSpPr>
          <p:cNvPr id="10035" name="Arrow1"/>
          <p:cNvSpPr txBox="1"/>
          <p:nvPr/>
        </p:nvSpPr>
        <p:spPr>
          <a:xfrm xmlns:a="http://schemas.openxmlformats.org/drawingml/2006/main">
            <a:off x="3240000" y="1980000"/>
            <a:ext cx="7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96167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0036" name="Phase2Num"/>
          <p:cNvSpPr txBox="1"/>
          <p:nvPr/>
        </p:nvSpPr>
        <p:spPr>
          <a:xfrm xmlns:a="http://schemas.openxmlformats.org/drawingml/2006/main">
            <a:off x="3960000" y="1800000"/>
            <a:ext cx="25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1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AUG</a:t>
            </a:r>
          </a:p>
        </p:txBody>
      </p:sp>
      <p:sp>
        <p:nvSpPr>
          <p:cNvPr id="10037" name="Phase2Title"/>
          <p:cNvSpPr txBox="1"/>
          <p:nvPr/>
        </p:nvSpPr>
        <p:spPr>
          <a:xfrm xmlns:a="http://schemas.openxmlformats.org/drawingml/2006/main">
            <a:off x="3960000" y="2700000"/>
            <a:ext cx="25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F3C7E"/>
                </a:solidFill>
                <a:latin typeface="Arial"/>
                <a:ea typeface="Arial"/>
              </a:rPr>
              <a:t>GA Launch</a:t>
            </a:r>
          </a:p>
        </p:txBody>
      </p:sp>
      <p:sp>
        <p:nvSpPr>
          <p:cNvPr id="10038" name="Phase2Desc"/>
          <p:cNvSpPr txBox="1"/>
          <p:nvPr/>
        </p:nvSpPr>
        <p:spPr>
          <a:xfrm xmlns:a="http://schemas.openxmlformats.org/drawingml/2006/main">
            <a:off x="3960000" y="3240000"/>
            <a:ext cx="25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All features live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Enterprise tier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SLA guarantee</a:t>
            </a:r>
          </a:p>
        </p:txBody>
      </p:sp>
      <p:sp>
        <p:nvSpPr>
          <p:cNvPr id="10039" name="Arrow2"/>
          <p:cNvSpPr txBox="1"/>
          <p:nvPr/>
        </p:nvSpPr>
        <p:spPr>
          <a:xfrm xmlns:a="http://schemas.openxmlformats.org/drawingml/2006/main">
            <a:off x="6732000" y="1980000"/>
            <a:ext cx="7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96167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0040" name="Phase3Num"/>
          <p:cNvSpPr txBox="1"/>
          <p:nvPr/>
        </p:nvSpPr>
        <p:spPr>
          <a:xfrm xmlns:a="http://schemas.openxmlformats.org/drawingml/2006/main">
            <a:off x="7452000" y="1800000"/>
            <a:ext cx="25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616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OCT</a:t>
            </a:r>
          </a:p>
        </p:txBody>
      </p:sp>
      <p:sp>
        <p:nvSpPr>
          <p:cNvPr id="10041" name="Phase3Title"/>
          <p:cNvSpPr txBox="1"/>
          <p:nvPr/>
        </p:nvSpPr>
        <p:spPr>
          <a:xfrm xmlns:a="http://schemas.openxmlformats.org/drawingml/2006/main">
            <a:off x="7452000" y="2700000"/>
            <a:ext cx="25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F3C7E"/>
                </a:solidFill>
                <a:latin typeface="Arial"/>
                <a:ea typeface="Arial"/>
              </a:rPr>
              <a:t>AI Copilot</a:t>
            </a:r>
          </a:p>
        </p:txBody>
      </p:sp>
      <p:sp>
        <p:nvSpPr>
          <p:cNvPr id="10042" name="Phase3Desc"/>
          <p:cNvSpPr txBox="1"/>
          <p:nvPr/>
        </p:nvSpPr>
        <p:spPr>
          <a:xfrm xmlns:a="http://schemas.openxmlformats.org/drawingml/2006/main">
            <a:off x="7452000" y="3240000"/>
            <a:ext cx="25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NLQ for all users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Auto-insight engine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Slack integration</a:t>
            </a:r>
          </a:p>
        </p:txBody>
      </p:sp>
      <p:sp>
        <p:nvSpPr>
          <p:cNvPr id="10043" name="Phase4Num"/>
          <p:cNvSpPr txBox="1"/>
          <p:nvPr/>
        </p:nvSpPr>
        <p:spPr>
          <a:xfrm xmlns:a="http://schemas.openxmlformats.org/drawingml/2006/main">
            <a:off x="9000000" y="1800000"/>
            <a:ext cx="252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E6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</a:rPr>
              <a:t>DEC</a:t>
            </a:r>
          </a:p>
        </p:txBody>
      </p:sp>
      <p:sp>
        <p:nvSpPr>
          <p:cNvPr id="10044" name="Phase4Title"/>
          <p:cNvSpPr txBox="1"/>
          <p:nvPr/>
        </p:nvSpPr>
        <p:spPr>
          <a:xfrm xmlns:a="http://schemas.openxmlformats.org/drawingml/2006/main">
            <a:off x="9000000" y="2700000"/>
            <a:ext cx="252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2F3C7E"/>
                </a:solidFill>
                <a:latin typeface="Arial"/>
                <a:ea typeface="Arial"/>
              </a:rPr>
              <a:t>Global Expansion</a:t>
            </a:r>
          </a:p>
        </p:txBody>
      </p:sp>
      <p:sp>
        <p:nvSpPr>
          <p:cNvPr id="10045" name="Phase4Desc"/>
          <p:cNvSpPr txBox="1"/>
          <p:nvPr/>
        </p:nvSpPr>
        <p:spPr>
          <a:xfrm xmlns:a="http://schemas.openxmlformats.org/drawingml/2006/main">
            <a:off x="9000000" y="3240000"/>
            <a:ext cx="25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EU data residency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APAC region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Arial"/>
                <a:ea typeface="Arial"/>
              </a:rPr>
              <a:t>Multi-language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6167"/>
        </a:solidFill>
      </p:bgPr>
    </p:bg>
    <p:spTree>
      <p:nvGrpSpPr>
        <p:cNvPr id="1" name=""/>
        <p:cNvGrpSpPr/>
        <p:nvPr/>
      </p:nvGrpSpPr>
      <p:grpSpPr/>
      <p:sp>
        <p:nvSpPr>
          <p:cNvPr id="10046" name="ClosingTitle"/>
          <p:cNvSpPr txBox="1"/>
          <p:nvPr/>
        </p:nvSpPr>
        <p:spPr>
          <a:xfrm xmlns:a="http://schemas.openxmlformats.org/drawingml/2006/main">
            <a:off x="720000" y="144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Arial"/>
                <a:ea typeface="Arial"/>
              </a:rPr>
              <a:t>Join the Beta</a:t>
            </a:r>
          </a:p>
        </p:txBody>
      </p:sp>
      <p:sp>
        <p:nvSpPr>
          <p:cNvPr id="10047" name="ClosingLine"/>
          <p:cNvSpPr/>
          <p:nvPr/>
        </p:nvSpPr>
        <p:spPr>
          <a:xfrm xmlns:a="http://schemas.openxmlformats.org/drawingml/2006/main">
            <a:off x="4320000" y="2700000"/>
            <a:ext cx="3553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79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48" name="CTA"/>
          <p:cNvSpPr txBox="1"/>
          <p:nvPr/>
        </p:nvSpPr>
        <p:spPr>
          <a:xfrm xmlns:a="http://schemas.openxmlformats.org/drawingml/2006/main">
            <a:off x="720000" y="3060000"/>
            <a:ext cx="107532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>
                <a:solidFill>
                  <a:srgbClr val="F9E795"/>
                </a:solidFill>
                <a:latin typeface="Arial"/>
                <a:ea typeface="Arial"/>
              </a:rPr>
              <a:t>nova.io/beta  ·  launch@nova.io</a:t>
            </a:r>
          </a:p>
        </p:txBody>
      </p:sp>
      <p:sp>
        <p:nvSpPr>
          <p:cNvPr id="10049" name="AccentBand"/>
          <p:cNvSpPr/>
          <p:nvPr/>
        </p:nvSpPr>
        <p:spPr>
          <a:xfrm xmlns:a="http://schemas.openxmlformats.org/drawingml/2006/main">
            <a:off x="0" y="5760000"/>
            <a:ext cx="12193200" cy="10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C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50" name="BottomText"/>
          <p:cNvSpPr txBox="1"/>
          <p:nvPr/>
        </p:nvSpPr>
        <p:spPr>
          <a:xfrm xmlns:a="http://schemas.openxmlformats.org/drawingml/2006/main">
            <a:off x="720000" y="5940000"/>
            <a:ext cx="1075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  <a:latin typeface="Arial"/>
                <a:ea typeface="Arial"/>
              </a:rPr>
              <a:t>First 1,000 teams get 6 months free  ·  June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OfficeCLI/1.0.96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2026-05-24T14:27:54Z</dcterms:created>
  <cp:lastModifiedBy>OfficeCLI</cp:lastModifiedBy>
  <dcterms:modified xsi:type="dcterms:W3CDTF">2026-05-24T14:27:54Z</dcterms:modified>
</cp:coreProperties>
</file>